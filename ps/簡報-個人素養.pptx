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fGzisuPlf6gJOf/xuGIhwomQh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/>
    <p:restoredTop sz="94724"/>
  </p:normalViewPr>
  <p:slideViewPr>
    <p:cSldViewPr snapToGrid="0">
      <p:cViewPr>
        <p:scale>
          <a:sx n="90" d="100"/>
          <a:sy n="90" d="100"/>
        </p:scale>
        <p:origin x="296" y="27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f2820a84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bf2820a8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f2820a847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bf2820a84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249" y="96520"/>
            <a:ext cx="4213982" cy="67208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949396" y="1285240"/>
            <a:ext cx="29344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良好工作態度及操守</a:t>
            </a:r>
            <a:endParaRPr sz="2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356360" y="1857355"/>
            <a:ext cx="2128520" cy="36933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605601" y="1867515"/>
            <a:ext cx="162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激勵士氣方法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748" y="469333"/>
            <a:ext cx="7431856" cy="5919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63880" y="0"/>
            <a:ext cx="133197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"/>
          <p:cNvSpPr/>
          <p:nvPr/>
        </p:nvSpPr>
        <p:spPr>
          <a:xfrm>
            <a:off x="0" y="0"/>
            <a:ext cx="13386195" cy="6858000"/>
          </a:xfrm>
          <a:prstGeom prst="rect">
            <a:avLst/>
          </a:prstGeom>
          <a:solidFill>
            <a:srgbClr val="1F3864">
              <a:alpha val="81960"/>
            </a:srgb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8876" y="1704512"/>
            <a:ext cx="10219657" cy="4464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83529" y="1139987"/>
            <a:ext cx="3120271" cy="497649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/>
        </p:nvSpPr>
        <p:spPr>
          <a:xfrm>
            <a:off x="2086165" y="1384722"/>
            <a:ext cx="2744915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公司會計部的職員包括一名部門主管及七位會計主任,由於工作繁多,人手不足,員工很多時候工作至晚上八、九時</a:t>
            </a:r>
            <a:r>
              <a:rPr lang="en-US" sz="2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sz="2200" b="1" i="0" u="none" strike="noStrike" cap="none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85564" y="689407"/>
            <a:ext cx="3120271" cy="497649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7188200" y="934142"/>
            <a:ext cx="2622995" cy="415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在接近農曆新年期間,部門的工作量大增,同時一位會計主任,因病須人住醫院兩星期</a:t>
            </a:r>
            <a:r>
              <a:rPr lang="en-US" sz="2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br>
              <a:rPr lang="en-US" sz="2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2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惟公司稱沒有財政預算聘請額外員工,員工均</a:t>
            </a:r>
            <a:r>
              <a:rPr lang="en-US" sz="2200" b="1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感</a:t>
            </a:r>
            <a:r>
              <a:rPr lang="en-US" sz="2200" b="1" i="0" u="none" strike="noStrike" cap="none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到十分無奈,當中四位會計主任更多次向部門主管作出抱怨</a:t>
            </a:r>
            <a:r>
              <a:rPr lang="en-US" sz="2200" b="1" i="0" u="none" strike="noStrike" cap="none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。</a:t>
            </a:r>
            <a:r>
              <a:rPr lang="en-US" sz="2200" b="1" i="0" u="none" strike="noStrike" cap="none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200" b="1" i="0" u="none" strike="noStrike" cap="none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2460" y="-467021"/>
            <a:ext cx="9659540" cy="745746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>
              <a:alpha val="87843"/>
            </a:srgbClr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0498" y="277061"/>
            <a:ext cx="1223877" cy="122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68181" y="1387882"/>
            <a:ext cx="1223877" cy="1223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8938" y="644265"/>
            <a:ext cx="3120271" cy="579209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459814" y="1320800"/>
            <a:ext cx="2977646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部門主管在上述的情況下,將大量工作轉移給另外兩位沉默的會計主任,令二人每晚工作至十一點，其他四位會計主任就如常八點下班</a:t>
            </a:r>
            <a:r>
              <a:rPr lang="en-US" sz="2200" b="1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2200" b="1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 err="1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因此,兩位敢怒而不敢言的會計主任,工作士氣低落,並計劃離職</a:t>
            </a:r>
            <a:r>
              <a:rPr lang="en-US" sz="2200" b="1" dirty="0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。 </a:t>
            </a:r>
            <a:endParaRPr dirty="0"/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07360" y="2387600"/>
            <a:ext cx="4878417" cy="3520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894755" y="1940641"/>
            <a:ext cx="2038060" cy="449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18487" y="2767530"/>
            <a:ext cx="4972050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12427" y="1188720"/>
            <a:ext cx="6165683" cy="4313873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4733290" y="2914769"/>
            <a:ext cx="299847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討論問題:</a:t>
            </a:r>
            <a:endParaRPr sz="5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7249" y="1108024"/>
            <a:ext cx="8227152" cy="177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525000" y="1000036"/>
            <a:ext cx="583200" cy="583200"/>
          </a:xfrm>
          <a:prstGeom prst="ellipse">
            <a:avLst/>
          </a:prstGeom>
          <a:solidFill>
            <a:srgbClr val="00B0F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1213865" y="1618735"/>
            <a:ext cx="7990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以上兩個部門主管的領導風格有何利弊?</a:t>
            </a: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5746675" y="2163425"/>
            <a:ext cx="6938350" cy="4694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f2820a847_0_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bf2820a847_0_0"/>
          <p:cNvSpPr txBox="1"/>
          <p:nvPr/>
        </p:nvSpPr>
        <p:spPr>
          <a:xfrm>
            <a:off x="994549" y="712125"/>
            <a:ext cx="44451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短期「好處」</a:t>
            </a:r>
            <a:endParaRPr sz="4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bf2820a847_0_0"/>
          <p:cNvSpPr txBox="1"/>
          <p:nvPr/>
        </p:nvSpPr>
        <p:spPr>
          <a:xfrm>
            <a:off x="682800" y="1785750"/>
            <a:ext cx="10826400" cy="42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31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確保工作如期完成：即使人手短缺，也能勉強維持基本運作。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減少正面衝突與阻力：暫時避免與抱怨員工正面衝突，維持表面穩定。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操作簡單、省時省力：不需重新分工或制度改革，以最快方式「完成任務」。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f2820a847_0_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bf2820a847_0_11"/>
          <p:cNvSpPr txBox="1"/>
          <p:nvPr/>
        </p:nvSpPr>
        <p:spPr>
          <a:xfrm>
            <a:off x="979925" y="522050"/>
            <a:ext cx="5614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主要壞處與風險</a:t>
            </a:r>
            <a:endParaRPr sz="4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bf2820a847_0_11"/>
          <p:cNvSpPr txBox="1"/>
          <p:nvPr/>
        </p:nvSpPr>
        <p:spPr>
          <a:xfrm>
            <a:off x="682800" y="1522550"/>
            <a:ext cx="10826400" cy="50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31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工作分配極不公平 → 士氣與信任度下降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員工過勞與離職風險高 → 造成人才流失與潛在營運中斷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助長抱怨文化 → 「發聲者可減壓」訊號錯誤、破壞團隊文化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團隊分化與內耗 → 同事間互相埋怨、合作氣氛受損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●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公司長遠成本上升 → 錯漏增多、流失率高、招聘與培訓開支增加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6506" y="2663736"/>
            <a:ext cx="82105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34398" y="2508606"/>
            <a:ext cx="6515945" cy="434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05820" y="464642"/>
            <a:ext cx="9503935" cy="205073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/>
          <p:nvPr/>
        </p:nvSpPr>
        <p:spPr>
          <a:xfrm>
            <a:off x="2323575" y="356661"/>
            <a:ext cx="583139" cy="583139"/>
          </a:xfrm>
          <a:prstGeom prst="ellipse">
            <a:avLst/>
          </a:prstGeom>
          <a:solidFill>
            <a:srgbClr val="00B0F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6995" y="4621708"/>
            <a:ext cx="47244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 txBox="1"/>
          <p:nvPr/>
        </p:nvSpPr>
        <p:spPr>
          <a:xfrm>
            <a:off x="3012440" y="975360"/>
            <a:ext cx="799084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面對兩位會計主任的低落士氣,可通過甚麼方法激勵他們?</a:t>
            </a: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6506" y="2663736"/>
            <a:ext cx="82105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34398" y="2508606"/>
            <a:ext cx="6515945" cy="434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05820" y="464642"/>
            <a:ext cx="9503935" cy="205073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2323575" y="356661"/>
            <a:ext cx="583139" cy="583139"/>
          </a:xfrm>
          <a:prstGeom prst="ellipse">
            <a:avLst/>
          </a:prstGeom>
          <a:solidFill>
            <a:srgbClr val="00B0F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6995" y="4621708"/>
            <a:ext cx="47244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 txBox="1"/>
          <p:nvPr/>
        </p:nvSpPr>
        <p:spPr>
          <a:xfrm>
            <a:off x="3012440" y="975360"/>
            <a:ext cx="799084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部門主管的處理手法,對其他四位員工有何影響</a:t>
            </a:r>
            <a:r>
              <a:rPr lang="en-US" sz="2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DF29DE-D716-EBAB-1C35-B319D7307453}"/>
              </a:ext>
            </a:extLst>
          </p:cNvPr>
          <p:cNvSpPr txBox="1"/>
          <p:nvPr/>
        </p:nvSpPr>
        <p:spPr>
          <a:xfrm>
            <a:off x="104343" y="495949"/>
            <a:ext cx="10751127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effectLst/>
                <a:latin typeface="Helvetica Neue" panose="02000503000000020004" pitchFamily="2" charset="0"/>
              </a:rPr>
              <a:t>這是一個典型的職場管理失當案例。部門主管採取了「欺負老實人」的策略，雖然短期內解決了工作分配的難題，但卻在團隊中埋下了巨大的隱患。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6C0230-7745-66BB-B62C-F7BA59D2484F}"/>
              </a:ext>
            </a:extLst>
          </p:cNvPr>
          <p:cNvSpPr txBox="1"/>
          <p:nvPr/>
        </p:nvSpPr>
        <p:spPr>
          <a:xfrm>
            <a:off x="2828924" y="3836199"/>
            <a:ext cx="88439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以下是針對那</a:t>
            </a:r>
            <a:r>
              <a:rPr lang="zh-TW" altLang="en-US" sz="3600" b="1" dirty="0">
                <a:effectLst/>
                <a:latin typeface="Helvetica" pitchFamily="2" charset="0"/>
              </a:rPr>
              <a:t>四位如常下班（曾作出抱怨）的會計主任</a:t>
            </a:r>
            <a:r>
              <a:rPr lang="zh-TW" altLang="en-US" sz="3600" dirty="0"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所產生的負面影響分析：</a:t>
            </a:r>
            <a:endParaRPr lang="zh-TW" altLang="en-US" sz="3600" dirty="0">
              <a:effectLst/>
              <a:latin typeface="Helvetica" pitchFamily="2" charset="0"/>
            </a:endParaRP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5164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B06B29-BBD4-BDA2-F095-46CA8EFFC4C5}"/>
              </a:ext>
            </a:extLst>
          </p:cNvPr>
          <p:cNvSpPr txBox="1"/>
          <p:nvPr/>
        </p:nvSpPr>
        <p:spPr>
          <a:xfrm>
            <a:off x="314325" y="357188"/>
            <a:ext cx="106441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effectLst/>
                <a:latin typeface="Helvetica Neue" panose="02000503000000020004" pitchFamily="2" charset="0"/>
              </a:rPr>
              <a:t>1. </a:t>
            </a:r>
            <a:r>
              <a:rPr lang="zh-TW" altLang="en-US" sz="2400" b="1" dirty="0">
                <a:effectLst/>
                <a:latin typeface="Helvetica Neue" panose="02000503000000020004" pitchFamily="2" charset="0"/>
              </a:rPr>
              <a:t>錯誤的行為強化 </a:t>
            </a:r>
            <a:r>
              <a:rPr lang="en-US" altLang="zh-TW" sz="2400" b="1" dirty="0">
                <a:effectLst/>
                <a:latin typeface="Helvetica Neue" panose="02000503000000020004" pitchFamily="2" charset="0"/>
              </a:rPr>
              <a:t>(</a:t>
            </a:r>
            <a:r>
              <a:rPr lang="en-US" sz="2400" b="1" dirty="0">
                <a:effectLst/>
                <a:latin typeface="Helvetica Neue" panose="02000503000000020004" pitchFamily="2" charset="0"/>
              </a:rPr>
              <a:t>Negative Reinforcement)</a:t>
            </a:r>
            <a:endParaRPr 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dirty="0">
                <a:effectLst/>
                <a:latin typeface="Helvetica Neue" panose="02000503000000020004" pitchFamily="2" charset="0"/>
              </a:rPr>
              <a:t>主管的處理方式向這四位員工傳遞了一個非常錯誤的訊息：</a:t>
            </a:r>
            <a:r>
              <a:rPr lang="zh-TW" altLang="en-US" sz="2400" b="1" dirty="0">
                <a:effectLst/>
                <a:latin typeface="Helvetica Neue" panose="02000503000000020004" pitchFamily="2" charset="0"/>
              </a:rPr>
              <a:t>「會吵的人有糖吃」</a:t>
            </a:r>
            <a:r>
              <a:rPr lang="zh-TW" altLang="en-US" sz="2400" dirty="0">
                <a:effectLst/>
                <a:latin typeface="Helvetica Neue" panose="02000503000000020004" pitchFamily="2" charset="0"/>
              </a:rPr>
              <a:t>。</a:t>
            </a:r>
            <a:endParaRPr lang="en-US" altLang="zh-TW" sz="2400" dirty="0">
              <a:effectLst/>
              <a:latin typeface="Helvetica Neue" panose="02000503000000020004" pitchFamily="2" charset="0"/>
            </a:endParaRPr>
          </a:p>
          <a:p>
            <a:endParaRPr lang="zh-TW" alt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b="1" dirty="0">
                <a:effectLst/>
                <a:latin typeface="Helvetica Neue" panose="02000503000000020004" pitchFamily="2" charset="0"/>
              </a:rPr>
              <a:t>負面連鎖反應：</a:t>
            </a:r>
            <a:r>
              <a:rPr lang="zh-TW" altLang="en-US" sz="2400" dirty="0">
                <a:effectLst/>
                <a:latin typeface="Helvetica Neue" panose="02000503000000020004" pitchFamily="2" charset="0"/>
              </a:rPr>
              <a:t> 當員工發現透過「抱怨」或「向主管施壓」可以減少工作量，他們未來會變本加厲地使用這種策略。</a:t>
            </a:r>
            <a:endParaRPr lang="en-US" altLang="zh-TW" sz="2400" dirty="0">
              <a:effectLst/>
              <a:latin typeface="Helvetica Neue" panose="02000503000000020004" pitchFamily="2" charset="0"/>
            </a:endParaRPr>
          </a:p>
          <a:p>
            <a:endParaRPr lang="zh-TW" alt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b="1" dirty="0">
                <a:effectLst/>
                <a:latin typeface="Helvetica" pitchFamily="2" charset="0"/>
                <a:ea typeface="PingFang TC" panose="020B0400000000000000" pitchFamily="34" charset="-120"/>
              </a:rPr>
              <a:t>削弱領導力：</a:t>
            </a:r>
            <a:r>
              <a:rPr lang="zh-TW" altLang="en-US" sz="2400" dirty="0">
                <a:effectLst/>
                <a:latin typeface="Helvetica Neue" panose="02000503000000020004" pitchFamily="2" charset="0"/>
                <a:ea typeface="PingFang TC" panose="020B0400000000000000" pitchFamily="34" charset="-120"/>
              </a:rPr>
              <a:t> </a:t>
            </a:r>
            <a:r>
              <a:rPr lang="zh-TW" altLang="en-US" sz="2400" dirty="0"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主管在他們眼中的威信會下降，被視為欺軟怕硬，而非公正的領導者。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B2BC4-FB14-A496-E805-980119CA7CDD}"/>
              </a:ext>
            </a:extLst>
          </p:cNvPr>
          <p:cNvSpPr txBox="1"/>
          <p:nvPr/>
        </p:nvSpPr>
        <p:spPr>
          <a:xfrm>
            <a:off x="1547812" y="3975795"/>
            <a:ext cx="106441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effectLst/>
                <a:latin typeface="Helvetica Neue" panose="02000503000000020004" pitchFamily="2" charset="0"/>
              </a:rPr>
              <a:t>2. </a:t>
            </a:r>
            <a:r>
              <a:rPr lang="zh-TW" altLang="en-US" sz="2400" b="1" dirty="0">
                <a:effectLst/>
                <a:latin typeface="Helvetica Neue" panose="02000503000000020004" pitchFamily="2" charset="0"/>
              </a:rPr>
              <a:t>團隊凝聚力崩潰</a:t>
            </a:r>
            <a:endParaRPr lang="zh-TW" alt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dirty="0">
                <a:effectLst/>
                <a:latin typeface="Helvetica Neue" panose="02000503000000020004" pitchFamily="2" charset="0"/>
              </a:rPr>
              <a:t>雖然這四位員工目前是「既得利益者」，但長遠來看，團隊的互信基礎已瓦解：</a:t>
            </a:r>
          </a:p>
          <a:p>
            <a:r>
              <a:rPr lang="zh-TW" altLang="en-US" sz="2400" b="1" dirty="0">
                <a:effectLst/>
                <a:latin typeface="Helvetica Neue" panose="02000503000000020004" pitchFamily="2" charset="0"/>
              </a:rPr>
              <a:t>同僚對立：</a:t>
            </a:r>
            <a:r>
              <a:rPr lang="zh-TW" altLang="en-US" sz="2400" dirty="0">
                <a:effectLst/>
                <a:latin typeface="Helvetica Neue" panose="02000503000000020004" pitchFamily="2" charset="0"/>
              </a:rPr>
              <a:t> 他們與那兩位需工作至深夜的同事之間會產生嚴重的隔閡與罪惡感，甚至導致辦公室政治化。</a:t>
            </a:r>
            <a:endParaRPr lang="en-US" altLang="zh-TW" sz="2400" dirty="0">
              <a:effectLst/>
              <a:latin typeface="Helvetica Neue" panose="02000503000000020004" pitchFamily="2" charset="0"/>
            </a:endParaRPr>
          </a:p>
          <a:p>
            <a:endParaRPr lang="zh-TW" alt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b="1" dirty="0">
                <a:effectLst/>
                <a:latin typeface="Helvetica" pitchFamily="2" charset="0"/>
                <a:ea typeface="PingFang TC" panose="020B0400000000000000" pitchFamily="34" charset="-120"/>
              </a:rPr>
              <a:t>缺乏支援意識：</a:t>
            </a:r>
            <a:r>
              <a:rPr lang="zh-TW" altLang="en-US" sz="2400" dirty="0">
                <a:effectLst/>
                <a:latin typeface="Helvetica Neue" panose="02000503000000020004" pitchFamily="2" charset="0"/>
                <a:ea typeface="PingFang TC" panose="020B0400000000000000" pitchFamily="34" charset="-120"/>
              </a:rPr>
              <a:t> </a:t>
            </a:r>
            <a:r>
              <a:rPr lang="zh-TW" altLang="en-US" sz="2400" dirty="0"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當團隊成員看到「生病入院」或「保持沈默」會導致不公平待遇時，他們會變得防禦性極強，不再願意在緊急關頭互相扶持。</a:t>
            </a:r>
          </a:p>
        </p:txBody>
      </p:sp>
    </p:spTree>
    <p:extLst>
      <p:ext uri="{BB962C8B-B14F-4D97-AF65-F5344CB8AC3E}">
        <p14:creationId xmlns:p14="http://schemas.microsoft.com/office/powerpoint/2010/main" val="3187284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A715AA-4F6C-A0AA-1898-AE31D553B11C}"/>
              </a:ext>
            </a:extLst>
          </p:cNvPr>
          <p:cNvSpPr txBox="1"/>
          <p:nvPr/>
        </p:nvSpPr>
        <p:spPr>
          <a:xfrm>
            <a:off x="0" y="105013"/>
            <a:ext cx="120729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effectLst/>
                <a:latin typeface="Helvetica Neue" panose="02000503000000020004" pitchFamily="2" charset="0"/>
              </a:rPr>
              <a:t>3. </a:t>
            </a:r>
            <a:r>
              <a:rPr lang="zh-TW" altLang="en-US" sz="2400" b="1" dirty="0">
                <a:effectLst/>
                <a:latin typeface="Helvetica Neue" panose="02000503000000020004" pitchFamily="2" charset="0"/>
              </a:rPr>
              <a:t>潛在的心理焦慮</a:t>
            </a:r>
            <a:endParaRPr lang="zh-TW" alt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dirty="0">
                <a:effectLst/>
                <a:latin typeface="Helvetica Neue" panose="02000503000000020004" pitchFamily="2" charset="0"/>
              </a:rPr>
              <a:t>儘管他們能準時下班，但這四位員工內心未必感到安穩：</a:t>
            </a:r>
            <a:endParaRPr lang="en-US" altLang="zh-TW" sz="2400" dirty="0">
              <a:effectLst/>
              <a:latin typeface="Helvetica Neue" panose="02000503000000020004" pitchFamily="2" charset="0"/>
            </a:endParaRPr>
          </a:p>
          <a:p>
            <a:endParaRPr lang="zh-TW" alt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b="1" dirty="0">
                <a:effectLst/>
                <a:latin typeface="Helvetica Neue" panose="02000503000000020004" pitchFamily="2" charset="0"/>
              </a:rPr>
              <a:t>不安全感：</a:t>
            </a:r>
            <a:r>
              <a:rPr lang="zh-TW" altLang="en-US" sz="2400" dirty="0">
                <a:effectLst/>
                <a:latin typeface="Helvetica Neue" panose="02000503000000020004" pitchFamily="2" charset="0"/>
              </a:rPr>
              <a:t> 他們會意識到主管缺乏公平分配工作的能力。今天受害的是那兩位沈默的同事，明天若主管心情改變或那兩位同事離職，重擔隨時會落在自己身上。</a:t>
            </a:r>
            <a:endParaRPr lang="en-US" altLang="zh-TW" sz="2400" dirty="0">
              <a:effectLst/>
              <a:latin typeface="Helvetica Neue" panose="02000503000000020004" pitchFamily="2" charset="0"/>
            </a:endParaRPr>
          </a:p>
          <a:p>
            <a:endParaRPr lang="zh-TW" alt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b="1" dirty="0">
                <a:effectLst/>
                <a:latin typeface="Helvetica" pitchFamily="2" charset="0"/>
                <a:ea typeface="PingFang TC" panose="020B0400000000000000" pitchFamily="34" charset="-120"/>
              </a:rPr>
              <a:t>士氣低迷：</a:t>
            </a:r>
            <a:r>
              <a:rPr lang="zh-TW" altLang="en-US" sz="2400" dirty="0">
                <a:effectLst/>
                <a:latin typeface="Helvetica Neue" panose="02000503000000020004" pitchFamily="2" charset="0"/>
                <a:ea typeface="PingFang TC" panose="020B0400000000000000" pitchFamily="34" charset="-120"/>
              </a:rPr>
              <a:t> </a:t>
            </a:r>
            <a:r>
              <a:rPr lang="zh-TW" altLang="en-US" sz="2400" dirty="0"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處於一個功能失調（</a:t>
            </a:r>
            <a:r>
              <a:rPr lang="en-US" sz="2400" dirty="0">
                <a:effectLst/>
                <a:latin typeface="Helvetica Neue" panose="02000503000000020004" pitchFamily="2" charset="0"/>
                <a:ea typeface="PingFang TC" panose="020B0400000000000000" pitchFamily="34" charset="-120"/>
              </a:rPr>
              <a:t>Dysfunctional</a:t>
            </a:r>
            <a:r>
              <a:rPr lang="en-US" sz="2400" dirty="0"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）</a:t>
            </a:r>
            <a:r>
              <a:rPr lang="zh-TW" altLang="en-US" sz="2400" dirty="0"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的團隊中，整體的工作氛圍是壓抑且充滿怨氣的，這會降低所有人的職業滿意度。</a:t>
            </a:r>
          </a:p>
          <a:p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26B440-EF00-3D61-0500-81EE51B1EC71}"/>
              </a:ext>
            </a:extLst>
          </p:cNvPr>
          <p:cNvSpPr txBox="1"/>
          <p:nvPr/>
        </p:nvSpPr>
        <p:spPr>
          <a:xfrm>
            <a:off x="1090612" y="3705999"/>
            <a:ext cx="111013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effectLst/>
                <a:latin typeface="Helvetica Neue" panose="02000503000000020004" pitchFamily="2" charset="0"/>
              </a:rPr>
              <a:t>4. </a:t>
            </a:r>
            <a:r>
              <a:rPr lang="zh-TW" altLang="en-US" sz="2400" b="1" dirty="0">
                <a:effectLst/>
                <a:latin typeface="Helvetica Neue" panose="02000503000000020004" pitchFamily="2" charset="0"/>
              </a:rPr>
              <a:t>專業成長停滯</a:t>
            </a:r>
            <a:endParaRPr lang="zh-TW" alt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dirty="0">
                <a:effectLst/>
                <a:latin typeface="Helvetica Neue" panose="02000503000000020004" pitchFamily="2" charset="0"/>
              </a:rPr>
              <a:t>由於主管為了規避衝突而不敢分配任務，這四位員工可能：</a:t>
            </a:r>
            <a:endParaRPr lang="en-US" altLang="zh-TW" sz="2400" dirty="0">
              <a:effectLst/>
              <a:latin typeface="Helvetica Neue" panose="02000503000000020004" pitchFamily="2" charset="0"/>
            </a:endParaRPr>
          </a:p>
          <a:p>
            <a:endParaRPr lang="zh-TW" alt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b="1" dirty="0">
                <a:effectLst/>
                <a:latin typeface="Helvetica Neue" panose="02000503000000020004" pitchFamily="2" charset="0"/>
              </a:rPr>
              <a:t>逃避責任：</a:t>
            </a:r>
            <a:r>
              <a:rPr lang="zh-TW" altLang="en-US" sz="2400" dirty="0">
                <a:effectLst/>
                <a:latin typeface="Helvetica Neue" panose="02000503000000020004" pitchFamily="2" charset="0"/>
              </a:rPr>
              <a:t> 養成只做「份內事」或「最簡單的事」的習慣，失去承擔挑戰和提升專業能力的機會。</a:t>
            </a:r>
            <a:endParaRPr lang="en-US" altLang="zh-TW" sz="2400" dirty="0">
              <a:effectLst/>
              <a:latin typeface="Helvetica Neue" panose="02000503000000020004" pitchFamily="2" charset="0"/>
            </a:endParaRPr>
          </a:p>
          <a:p>
            <a:endParaRPr lang="zh-TW" altLang="en-US" sz="2400" dirty="0">
              <a:effectLst/>
              <a:latin typeface="Helvetica Neue" panose="02000503000000020004" pitchFamily="2" charset="0"/>
            </a:endParaRPr>
          </a:p>
          <a:p>
            <a:r>
              <a:rPr lang="zh-TW" altLang="en-US" sz="2400" b="1" dirty="0">
                <a:effectLst/>
                <a:latin typeface="Helvetica" pitchFamily="2" charset="0"/>
                <a:ea typeface="PingFang TC" panose="020B0400000000000000" pitchFamily="34" charset="-120"/>
              </a:rPr>
              <a:t>績效縮水：</a:t>
            </a:r>
            <a:r>
              <a:rPr lang="zh-TW" altLang="en-US" sz="2400" dirty="0">
                <a:effectLst/>
                <a:latin typeface="Helvetica Neue" panose="02000503000000020004" pitchFamily="2" charset="0"/>
                <a:ea typeface="PingFang TC" panose="020B0400000000000000" pitchFamily="34" charset="-120"/>
              </a:rPr>
              <a:t> </a:t>
            </a:r>
            <a:r>
              <a:rPr lang="zh-TW" altLang="en-US" sz="2400" dirty="0">
                <a:effectLst/>
                <a:latin typeface="PingFang TC" panose="020B0400000000000000" pitchFamily="34" charset="-120"/>
                <a:ea typeface="PingFang TC" panose="020B0400000000000000" pitchFamily="34" charset="-120"/>
              </a:rPr>
              <a:t>在繁忙的農曆新年期間，若他們處理的工作量遠低於正常比例，長期而言會影響其績效表現和在公司的競爭力。</a:t>
            </a:r>
          </a:p>
        </p:txBody>
      </p:sp>
    </p:spTree>
    <p:extLst>
      <p:ext uri="{BB962C8B-B14F-4D97-AF65-F5344CB8AC3E}">
        <p14:creationId xmlns:p14="http://schemas.microsoft.com/office/powerpoint/2010/main" val="2732153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6506" y="2663736"/>
            <a:ext cx="82105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934398" y="2508606"/>
            <a:ext cx="6515945" cy="4349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05820" y="464642"/>
            <a:ext cx="9503935" cy="205073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/>
          <p:nvPr/>
        </p:nvSpPr>
        <p:spPr>
          <a:xfrm>
            <a:off x="2323575" y="356661"/>
            <a:ext cx="583139" cy="583139"/>
          </a:xfrm>
          <a:prstGeom prst="ellipse">
            <a:avLst/>
          </a:prstGeom>
          <a:solidFill>
            <a:srgbClr val="00B0F0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6995" y="4621708"/>
            <a:ext cx="472440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 txBox="1"/>
          <p:nvPr/>
        </p:nvSpPr>
        <p:spPr>
          <a:xfrm>
            <a:off x="3012440" y="975360"/>
            <a:ext cx="7990840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如你是部門主管,你會如何處理上述工作量大增的情況?</a:t>
            </a: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Macintosh PowerPoint</Application>
  <PresentationFormat>Widescreen</PresentationFormat>
  <Paragraphs>52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PingFang TC</vt:lpstr>
      <vt:lpstr>Arial</vt:lpstr>
      <vt:lpstr>Calibri</vt:lpstr>
      <vt:lpstr>Helvetica</vt:lpstr>
      <vt:lpstr>Helvetica Neue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 Ho Leung</dc:creator>
  <cp:lastModifiedBy>vivienne c</cp:lastModifiedBy>
  <cp:revision>1</cp:revision>
  <dcterms:created xsi:type="dcterms:W3CDTF">2026-02-14T17:09:48Z</dcterms:created>
  <dcterms:modified xsi:type="dcterms:W3CDTF">2026-02-23T01:48:06Z</dcterms:modified>
</cp:coreProperties>
</file>